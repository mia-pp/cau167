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0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87" autoAdjust="0"/>
  </p:normalViewPr>
  <p:slideViewPr>
    <p:cSldViewPr snapToGrid="0" snapToObjects="1">
      <p:cViewPr varScale="1">
        <p:scale>
          <a:sx n="46" d="100"/>
          <a:sy n="46" d="100"/>
        </p:scale>
        <p:origin x="307" y="77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09759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mailto:xxxxxx@knworks.co.kr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커버_default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이미지" descr="이미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28" y="939789"/>
            <a:ext cx="2672770" cy="361443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제목 텍스트"/>
          <p:cNvSpPr txBox="1">
            <a:spLocks noGrp="1"/>
          </p:cNvSpPr>
          <p:nvPr>
            <p:ph type="title"/>
          </p:nvPr>
        </p:nvSpPr>
        <p:spPr>
          <a:xfrm>
            <a:off x="878019" y="2325687"/>
            <a:ext cx="22226854" cy="1694908"/>
          </a:xfrm>
          <a:prstGeom prst="rect">
            <a:avLst/>
          </a:prstGeom>
        </p:spPr>
        <p:txBody>
          <a:bodyPr/>
          <a:lstStyle>
            <a:lvl1pPr>
              <a:defRPr sz="9000" b="0" i="0">
                <a:solidFill>
                  <a:srgbClr val="FFFFFF"/>
                </a:solidFill>
                <a:latin typeface="Kakao Bold"/>
                <a:ea typeface="Kakao Bold"/>
                <a:cs typeface="Kakao Bold"/>
                <a:sym typeface="카카오OTF Regular"/>
              </a:defRPr>
            </a:lvl1pPr>
          </a:lstStyle>
          <a:p>
            <a:r>
              <a:rPr dirty="0"/>
              <a:t>제목 텍스트</a:t>
            </a:r>
          </a:p>
        </p:txBody>
      </p:sp>
      <p:sp>
        <p:nvSpPr>
          <p:cNvPr id="14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966919" y="4024312"/>
            <a:ext cx="15609095" cy="227991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r>
              <a:rPr dirty="0"/>
              <a:t>본문 첫 번째 줄</a:t>
            </a:r>
          </a:p>
          <a:p>
            <a:pPr lvl="1"/>
            <a:r>
              <a:rPr dirty="0"/>
              <a:t>본문 두 번째 줄</a:t>
            </a:r>
          </a:p>
          <a:p>
            <a:pPr lvl="2"/>
            <a:r>
              <a:rPr dirty="0"/>
              <a:t>본문 세 번째 줄</a:t>
            </a:r>
          </a:p>
          <a:p>
            <a:pPr lvl="3"/>
            <a:r>
              <a:rPr dirty="0"/>
              <a:t>본문 네 번째 줄</a:t>
            </a:r>
          </a:p>
          <a:p>
            <a:pPr lvl="4"/>
            <a:r>
              <a:rPr dirty="0"/>
              <a:t>본문 다섯 번째 줄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간지_default">
    <p:bg>
      <p:bgPr>
        <a:solidFill>
          <a:srgbClr val="E4E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이미지" descr="이미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28" y="939789"/>
            <a:ext cx="2672770" cy="361443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ontents"/>
          <p:cNvSpPr txBox="1"/>
          <p:nvPr/>
        </p:nvSpPr>
        <p:spPr>
          <a:xfrm>
            <a:off x="910771" y="2191417"/>
            <a:ext cx="4437672" cy="1170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8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b="0" i="0" dirty="0">
                <a:latin typeface="Kakao Bold"/>
                <a:ea typeface="Kakao Bold"/>
                <a:cs typeface="Kakao Bold"/>
              </a:rPr>
              <a:t>Contents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지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본문 첫 번째 줄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본문 첫 번째 줄</a:t>
            </a:r>
          </a:p>
          <a:p>
            <a:pPr lvl="1"/>
            <a:r>
              <a:rPr dirty="0"/>
              <a:t>본문 두 번째 줄</a:t>
            </a:r>
          </a:p>
          <a:p>
            <a:pPr lvl="2"/>
            <a:r>
              <a:rPr dirty="0"/>
              <a:t>본문 세 번째 줄</a:t>
            </a:r>
          </a:p>
          <a:p>
            <a:pPr lvl="3"/>
            <a:r>
              <a:rPr dirty="0"/>
              <a:t>본문 네 번째 줄</a:t>
            </a:r>
          </a:p>
          <a:p>
            <a:pPr lvl="4"/>
            <a:r>
              <a:rPr dirty="0"/>
              <a:t>본문 다섯 번째 줄</a:t>
            </a:r>
          </a:p>
        </p:txBody>
      </p:sp>
      <p:sp>
        <p:nvSpPr>
          <p:cNvPr id="32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제목 텍스트</a:t>
            </a:r>
          </a:p>
        </p:txBody>
      </p:sp>
      <p:sp>
        <p:nvSpPr>
          <p:cNvPr id="3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마지막페이지_default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케이앤웍스…"/>
          <p:cNvSpPr txBox="1"/>
          <p:nvPr/>
        </p:nvSpPr>
        <p:spPr>
          <a:xfrm>
            <a:off x="19059169" y="12309756"/>
            <a:ext cx="4449962" cy="759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r">
              <a:defRPr sz="2000" b="0">
                <a:solidFill>
                  <a:srgbClr val="929292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pPr>
            <a:r>
              <a:rPr b="0" i="0" dirty="0">
                <a:solidFill>
                  <a:srgbClr val="7F7F7F"/>
                </a:solidFill>
                <a:latin typeface="Kakao Light"/>
                <a:ea typeface="Kakao Light"/>
                <a:cs typeface="Kakao Light"/>
              </a:rPr>
              <a:t>케이앤웍스</a:t>
            </a:r>
          </a:p>
          <a:p>
            <a:pPr algn="r">
              <a:defRPr sz="2000" b="0">
                <a:solidFill>
                  <a:srgbClr val="929292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pPr>
            <a:r>
              <a:rPr b="0" i="0" u="sng" dirty="0">
                <a:solidFill>
                  <a:srgbClr val="7F7F7F"/>
                </a:solidFill>
                <a:latin typeface="Kakao Light"/>
                <a:ea typeface="Kakao Light"/>
                <a:cs typeface="Kakao Light"/>
              </a:rPr>
              <a:t>xxxxxx@knworks.co.kr</a:t>
            </a:r>
            <a:endParaRPr b="0" i="0" u="sng" dirty="0">
              <a:solidFill>
                <a:srgbClr val="7F7F7F"/>
              </a:solidFill>
              <a:latin typeface="Kakao Light"/>
              <a:ea typeface="Kakao Light"/>
              <a:cs typeface="Kakao Light"/>
              <a:hlinkClick r:id="rId2"/>
            </a:endParaRPr>
          </a:p>
        </p:txBody>
      </p:sp>
      <p:sp>
        <p:nvSpPr>
          <p:cNvPr id="49" name="제목 텍스트"/>
          <p:cNvSpPr txBox="1">
            <a:spLocks noGrp="1"/>
          </p:cNvSpPr>
          <p:nvPr>
            <p:ph type="title"/>
          </p:nvPr>
        </p:nvSpPr>
        <p:spPr>
          <a:xfrm>
            <a:off x="1271785" y="10927820"/>
            <a:ext cx="22221496" cy="1150740"/>
          </a:xfrm>
          <a:prstGeom prst="rect">
            <a:avLst/>
          </a:prstGeom>
        </p:spPr>
        <p:txBody>
          <a:bodyPr/>
          <a:lstStyle>
            <a:lvl1pPr algn="r">
              <a:defRPr b="0" i="0">
                <a:solidFill>
                  <a:srgbClr val="FFFFFF"/>
                </a:solidFill>
                <a:latin typeface="Kakao Regular"/>
                <a:ea typeface="Kakao Regular"/>
                <a:cs typeface="Kakao Regular"/>
                <a:sym typeface="카카오OTF Regular"/>
              </a:defRPr>
            </a:lvl1pPr>
          </a:lstStyle>
          <a:p>
            <a:r>
              <a:rPr dirty="0"/>
              <a:t>제목 텍스트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956204" y="2558057"/>
            <a:ext cx="22353985" cy="1589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rPr dirty="0"/>
              <a:t>본문 첫 번째 줄</a:t>
            </a:r>
          </a:p>
          <a:p>
            <a:pPr lvl="1"/>
            <a:r>
              <a:rPr dirty="0"/>
              <a:t>본문 두 번째 줄</a:t>
            </a:r>
          </a:p>
          <a:p>
            <a:pPr lvl="2"/>
            <a:r>
              <a:rPr dirty="0"/>
              <a:t>본문 세 번째 줄</a:t>
            </a:r>
          </a:p>
          <a:p>
            <a:pPr lvl="3"/>
            <a:r>
              <a:rPr dirty="0"/>
              <a:t>본문 네 번째 줄</a:t>
            </a:r>
          </a:p>
          <a:p>
            <a:pPr lvl="4"/>
            <a:r>
              <a:rPr dirty="0"/>
              <a:t>본문 다섯 번째 줄</a:t>
            </a:r>
          </a:p>
        </p:txBody>
      </p:sp>
      <p:sp>
        <p:nvSpPr>
          <p:cNvPr id="3" name="제목 텍스트"/>
          <p:cNvSpPr txBox="1">
            <a:spLocks noGrp="1"/>
          </p:cNvSpPr>
          <p:nvPr>
            <p:ph type="title"/>
          </p:nvPr>
        </p:nvSpPr>
        <p:spPr>
          <a:xfrm>
            <a:off x="905404" y="1440259"/>
            <a:ext cx="22353985" cy="1171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rPr dirty="0"/>
              <a:t>제목 텍스트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22491700" y="432329"/>
            <a:ext cx="1053571" cy="33342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>
            <a:spAutoFit/>
          </a:bodyPr>
          <a:lstStyle>
            <a:lvl1pPr algn="r">
              <a:defRPr sz="1500" b="0" i="0">
                <a:latin typeface="Kakao Light"/>
                <a:ea typeface="Kakao Light"/>
                <a:cs typeface="Kakao Light"/>
                <a:sym typeface="카카오OTF Light"/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5" name="/ 20"/>
          <p:cNvSpPr txBox="1"/>
          <p:nvPr/>
        </p:nvSpPr>
        <p:spPr>
          <a:xfrm>
            <a:off x="23494530" y="432329"/>
            <a:ext cx="435908" cy="333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r">
              <a:defRPr sz="1500" b="0">
                <a:solidFill>
                  <a:srgbClr val="929292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 b="0" i="0" dirty="0">
                <a:latin typeface="Kakao Light"/>
                <a:ea typeface="Kakao Light"/>
                <a:cs typeface="Kakao Light"/>
              </a:rPr>
              <a:t>/ 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</p:sldLayoutIdLst>
  <p:transition spd="med"/>
  <p:txStyles>
    <p:title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Kakao Bold"/>
          <a:ea typeface="Kakao Bold"/>
          <a:cs typeface="Kakao Bold"/>
          <a:sym typeface="카카오OTF Bold"/>
        </a:defRPr>
      </a:lvl1pPr>
      <a:lvl2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2pPr>
      <a:lvl3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3pPr>
      <a:lvl4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4pPr>
      <a:lvl5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5pPr>
      <a:lvl6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6pPr>
      <a:lvl7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7pPr>
      <a:lvl8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8pPr>
      <a:lvl9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0" baseline="0">
          <a:solidFill>
            <a:srgbClr val="000000"/>
          </a:solidFill>
          <a:uFillTx/>
          <a:latin typeface="카카오OTF Bold"/>
          <a:ea typeface="카카오OTF Bold"/>
          <a:cs typeface="카카오OTF Bold"/>
          <a:sym typeface="카카오OTF Bold"/>
        </a:defRPr>
      </a:lvl9pPr>
    </p:titleStyle>
    <p:bodyStyle>
      <a:lvl1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Kakao Light"/>
          <a:ea typeface="Kakao Light"/>
          <a:cs typeface="Kakao Light"/>
          <a:sym typeface="카카오OTF Light"/>
        </a:defRPr>
      </a:lvl1pPr>
      <a:lvl2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Kakao Light"/>
          <a:ea typeface="Kakao Light"/>
          <a:cs typeface="Kakao Light"/>
          <a:sym typeface="카카오OTF Light"/>
        </a:defRPr>
      </a:lvl2pPr>
      <a:lvl3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Kakao Light"/>
          <a:ea typeface="Kakao Light"/>
          <a:cs typeface="Kakao Light"/>
          <a:sym typeface="카카오OTF Light"/>
        </a:defRPr>
      </a:lvl3pPr>
      <a:lvl4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Kakao Light"/>
          <a:ea typeface="Kakao Light"/>
          <a:cs typeface="Kakao Light"/>
          <a:sym typeface="카카오OTF Light"/>
        </a:defRPr>
      </a:lvl4pPr>
      <a:lvl5pPr marL="0" marR="0" indent="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Kakao Light"/>
          <a:ea typeface="Kakao Light"/>
          <a:cs typeface="Kakao Light"/>
          <a:sym typeface="카카오OTF Light"/>
        </a:defRPr>
      </a:lvl5pPr>
      <a:lvl6pPr marL="0" marR="0" indent="3556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카카오OTF Light"/>
          <a:ea typeface="카카오OTF Light"/>
          <a:cs typeface="카카오OTF Light"/>
          <a:sym typeface="카카오OTF Light"/>
        </a:defRPr>
      </a:lvl6pPr>
      <a:lvl7pPr marL="0" marR="0" indent="7112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카카오OTF Light"/>
          <a:ea typeface="카카오OTF Light"/>
          <a:cs typeface="카카오OTF Light"/>
          <a:sym typeface="카카오OTF Light"/>
        </a:defRPr>
      </a:lvl7pPr>
      <a:lvl8pPr marL="0" marR="0" indent="10668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카카오OTF Light"/>
          <a:ea typeface="카카오OTF Light"/>
          <a:cs typeface="카카오OTF Light"/>
          <a:sym typeface="카카오OTF Light"/>
        </a:defRPr>
      </a:lvl8pPr>
      <a:lvl9pPr marL="0" marR="0" indent="1422400" algn="l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929292"/>
          </a:solidFill>
          <a:uFillTx/>
          <a:latin typeface="카카오OTF Light"/>
          <a:ea typeface="카카오OTF Light"/>
          <a:cs typeface="카카오OTF Light"/>
          <a:sym typeface="카카오OTF Light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1pPr>
      <a:lvl2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2pPr>
      <a:lvl3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3pPr>
      <a:lvl4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4pPr>
      <a:lvl5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5pPr>
      <a:lvl6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6pPr>
      <a:lvl7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7pPr>
      <a:lvl8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8pPr>
      <a:lvl9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카카오OTF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cloud.google.com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marketplace/product/google/drive.googleapis.com?inv=1&amp;invt=AbqJZQ&amp;project=cau141" TargetMode="External"/><Relationship Id="rId2" Type="http://schemas.openxmlformats.org/officeDocument/2006/relationships/hyperlink" Target="https://console.cloud.google.com/marketplace/product/google/sheets.googleapis.com?inv=1&amp;invt=AbqJZQ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디폴트_문서의 제목을 넣어주세요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b="0" i="0">
                <a:solidFill>
                  <a:schemeClr val="bg1"/>
                </a:solidFill>
                <a:effectLst/>
                <a:latin typeface="Apple SD Gothic Neo"/>
              </a:rPr>
              <a:t>[CAU167] </a:t>
            </a:r>
            <a:r>
              <a:rPr lang="ko-KR" altLang="en-US" b="0" i="0">
                <a:solidFill>
                  <a:schemeClr val="bg1"/>
                </a:solidFill>
                <a:effectLst/>
                <a:latin typeface="Apple SD Gothic Neo"/>
              </a:rPr>
              <a:t>그레이 키워드 적중률 분석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8" name="소속1/소속2 /소속3…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4200">
              <a:lnSpc>
                <a:spcPct val="120000"/>
              </a:lnSpc>
            </a:pPr>
            <a:r>
              <a:rPr lang="en-US"/>
              <a:t>mia.p (</a:t>
            </a:r>
            <a:r>
              <a:rPr lang="ko-KR" altLang="en-US"/>
              <a:t>박무늬</a:t>
            </a:r>
            <a:r>
              <a:rPr lang="en-US" altLang="ko-KR"/>
              <a:t>)</a:t>
            </a:r>
            <a:endParaRPr dirty="0"/>
          </a:p>
        </p:txBody>
      </p:sp>
      <p:sp>
        <p:nvSpPr>
          <p:cNvPr id="5" name="updated. 2019.11.01(작성일 또는 버전)"/>
          <p:cNvSpPr txBox="1"/>
          <p:nvPr/>
        </p:nvSpPr>
        <p:spPr>
          <a:xfrm>
            <a:off x="965200" y="12870759"/>
            <a:ext cx="2261837" cy="462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584200">
              <a:lnSpc>
                <a:spcPct val="120000"/>
              </a:lnSpc>
              <a:defRPr sz="1800" b="0">
                <a:solidFill>
                  <a:srgbClr val="929292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updated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. 20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26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.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03</a:t>
            </a: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.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Kakao Light"/>
                <a:ea typeface="Kakao Light"/>
                <a:cs typeface="Kakao Light"/>
              </a:rPr>
              <a:t>12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카테고리 타이틀만 길게 노출할 경우"/>
          <p:cNvSpPr txBox="1"/>
          <p:nvPr/>
        </p:nvSpPr>
        <p:spPr>
          <a:xfrm>
            <a:off x="6196188" y="3584338"/>
            <a:ext cx="3919342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ko-KR" altLang="en-US">
                <a:latin typeface="Kakao Bold"/>
                <a:ea typeface="Kakao Bold"/>
                <a:cs typeface="Kakao Bold"/>
              </a:rPr>
              <a:t>실행하기 전 필수 확인사항</a:t>
            </a:r>
          </a:p>
        </p:txBody>
      </p:sp>
      <p:sp>
        <p:nvSpPr>
          <p:cNvPr id="193" name="카테고리 타이틀만 노출할 경우"/>
          <p:cNvSpPr txBox="1"/>
          <p:nvPr/>
        </p:nvSpPr>
        <p:spPr>
          <a:xfrm>
            <a:off x="6196188" y="7092199"/>
            <a:ext cx="5224186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ko-KR" altLang="en-US">
                <a:latin typeface="Kakao Bold"/>
                <a:ea typeface="Kakao Bold"/>
                <a:cs typeface="Kakao Bold"/>
              </a:rPr>
              <a:t>구글 </a:t>
            </a:r>
            <a:r>
              <a:rPr lang="en-US" altLang="ko-KR">
                <a:latin typeface="Kakao Bold"/>
                <a:ea typeface="Kakao Bold"/>
                <a:cs typeface="Kakao Bold"/>
              </a:rPr>
              <a:t>OAuth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인증 정보 생성 가이드</a:t>
            </a:r>
          </a:p>
        </p:txBody>
      </p:sp>
      <p:sp>
        <p:nvSpPr>
          <p:cNvPr id="37" name="03">
            <a:extLst>
              <a:ext uri="{FF2B5EF4-FFF2-40B4-BE49-F238E27FC236}">
                <a16:creationId xmlns:a16="http://schemas.microsoft.com/office/drawing/2014/main" id="{1BE0D3D3-03E2-43FB-B2FA-95780CB5B09D}"/>
              </a:ext>
            </a:extLst>
          </p:cNvPr>
          <p:cNvSpPr txBox="1"/>
          <p:nvPr/>
        </p:nvSpPr>
        <p:spPr>
          <a:xfrm>
            <a:off x="12614115" y="3610320"/>
            <a:ext cx="55303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1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38" name="카테고리 타이틀만 노출할 경우">
            <a:extLst>
              <a:ext uri="{FF2B5EF4-FFF2-40B4-BE49-F238E27FC236}">
                <a16:creationId xmlns:a16="http://schemas.microsoft.com/office/drawing/2014/main" id="{0FB296B8-1EA9-4862-86F8-04018DA718BE}"/>
              </a:ext>
            </a:extLst>
          </p:cNvPr>
          <p:cNvSpPr txBox="1"/>
          <p:nvPr/>
        </p:nvSpPr>
        <p:spPr>
          <a:xfrm>
            <a:off x="13216371" y="3584338"/>
            <a:ext cx="3459279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ko-KR" altLang="en-US">
                <a:latin typeface="Kakao Bold"/>
                <a:ea typeface="Kakao Bold"/>
                <a:cs typeface="Kakao Bold"/>
              </a:rPr>
              <a:t>구글 </a:t>
            </a:r>
            <a:r>
              <a:rPr lang="en-US" altLang="ko-KR">
                <a:latin typeface="Kakao Bold"/>
                <a:ea typeface="Kakao Bold"/>
                <a:cs typeface="Kakao Bold"/>
              </a:rPr>
              <a:t>OAuth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인증 진행</a:t>
            </a:r>
          </a:p>
        </p:txBody>
      </p:sp>
      <p:sp>
        <p:nvSpPr>
          <p:cNvPr id="41" name="03">
            <a:extLst>
              <a:ext uri="{FF2B5EF4-FFF2-40B4-BE49-F238E27FC236}">
                <a16:creationId xmlns:a16="http://schemas.microsoft.com/office/drawing/2014/main" id="{7CFDF1C5-90C4-4476-955C-6545B2782856}"/>
              </a:ext>
            </a:extLst>
          </p:cNvPr>
          <p:cNvSpPr txBox="1"/>
          <p:nvPr/>
        </p:nvSpPr>
        <p:spPr>
          <a:xfrm>
            <a:off x="12614115" y="4404833"/>
            <a:ext cx="59631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2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42" name="카테고리 타이틀만 노출할 경우">
            <a:extLst>
              <a:ext uri="{FF2B5EF4-FFF2-40B4-BE49-F238E27FC236}">
                <a16:creationId xmlns:a16="http://schemas.microsoft.com/office/drawing/2014/main" id="{C876D704-3857-4011-93BE-25747CA27BB2}"/>
              </a:ext>
            </a:extLst>
          </p:cNvPr>
          <p:cNvSpPr txBox="1"/>
          <p:nvPr/>
        </p:nvSpPr>
        <p:spPr>
          <a:xfrm>
            <a:off x="13216371" y="4378851"/>
            <a:ext cx="1734448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폴더</a:t>
            </a:r>
          </a:p>
        </p:txBody>
      </p:sp>
      <p:sp>
        <p:nvSpPr>
          <p:cNvPr id="47" name="03">
            <a:extLst>
              <a:ext uri="{FF2B5EF4-FFF2-40B4-BE49-F238E27FC236}">
                <a16:creationId xmlns:a16="http://schemas.microsoft.com/office/drawing/2014/main" id="{B335489F-92D9-4201-BEF7-135032AC6803}"/>
              </a:ext>
            </a:extLst>
          </p:cNvPr>
          <p:cNvSpPr txBox="1"/>
          <p:nvPr/>
        </p:nvSpPr>
        <p:spPr>
          <a:xfrm>
            <a:off x="12614115" y="5231137"/>
            <a:ext cx="599522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3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48" name="카테고리 타이틀만 노출할 경우">
            <a:extLst>
              <a:ext uri="{FF2B5EF4-FFF2-40B4-BE49-F238E27FC236}">
                <a16:creationId xmlns:a16="http://schemas.microsoft.com/office/drawing/2014/main" id="{8FF1D3C2-65AF-43A1-818E-232F0C5F4A77}"/>
              </a:ext>
            </a:extLst>
          </p:cNvPr>
          <p:cNvSpPr txBox="1"/>
          <p:nvPr/>
        </p:nvSpPr>
        <p:spPr>
          <a:xfrm>
            <a:off x="13216371" y="5205155"/>
            <a:ext cx="2042225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Config </a:t>
            </a:r>
            <a:r>
              <a:rPr lang="ko-KR" altLang="en-US">
                <a:latin typeface="Kakao Bold"/>
                <a:ea typeface="Kakao Bold"/>
                <a:cs typeface="Kakao Bold"/>
              </a:rPr>
              <a:t>폴더</a:t>
            </a:r>
          </a:p>
        </p:txBody>
      </p:sp>
      <p:sp>
        <p:nvSpPr>
          <p:cNvPr id="49" name="03">
            <a:extLst>
              <a:ext uri="{FF2B5EF4-FFF2-40B4-BE49-F238E27FC236}">
                <a16:creationId xmlns:a16="http://schemas.microsoft.com/office/drawing/2014/main" id="{20DB4362-D396-462D-B9D7-66901CD636F4}"/>
              </a:ext>
            </a:extLst>
          </p:cNvPr>
          <p:cNvSpPr txBox="1"/>
          <p:nvPr/>
        </p:nvSpPr>
        <p:spPr>
          <a:xfrm>
            <a:off x="12614115" y="6025650"/>
            <a:ext cx="605934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4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50" name="카테고리 타이틀만 노출할 경우">
            <a:extLst>
              <a:ext uri="{FF2B5EF4-FFF2-40B4-BE49-F238E27FC236}">
                <a16:creationId xmlns:a16="http://schemas.microsoft.com/office/drawing/2014/main" id="{50ED2266-0D25-447E-9849-3BFFD5CBE430}"/>
              </a:ext>
            </a:extLst>
          </p:cNvPr>
          <p:cNvSpPr txBox="1"/>
          <p:nvPr/>
        </p:nvSpPr>
        <p:spPr>
          <a:xfrm>
            <a:off x="13216371" y="5999668"/>
            <a:ext cx="2497478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(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참고</a:t>
            </a: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)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구글 시트</a:t>
            </a:r>
            <a:endParaRPr lang="ko-KR" altLang="en-US">
              <a:latin typeface="Kakao Bold"/>
              <a:ea typeface="Kakao Bold"/>
              <a:cs typeface="Kakao Bold"/>
            </a:endParaRPr>
          </a:p>
        </p:txBody>
      </p:sp>
      <p:sp>
        <p:nvSpPr>
          <p:cNvPr id="53" name="03">
            <a:extLst>
              <a:ext uri="{FF2B5EF4-FFF2-40B4-BE49-F238E27FC236}">
                <a16:creationId xmlns:a16="http://schemas.microsoft.com/office/drawing/2014/main" id="{A5A9248B-B078-49FB-92AC-025BD18E5409}"/>
              </a:ext>
            </a:extLst>
          </p:cNvPr>
          <p:cNvSpPr txBox="1"/>
          <p:nvPr/>
        </p:nvSpPr>
        <p:spPr>
          <a:xfrm>
            <a:off x="12617793" y="7170609"/>
            <a:ext cx="55303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1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54" name="카테고리 타이틀만 노출할 경우">
            <a:extLst>
              <a:ext uri="{FF2B5EF4-FFF2-40B4-BE49-F238E27FC236}">
                <a16:creationId xmlns:a16="http://schemas.microsoft.com/office/drawing/2014/main" id="{17872A49-9FE0-48C3-8DD0-F0D303DD2C21}"/>
              </a:ext>
            </a:extLst>
          </p:cNvPr>
          <p:cNvSpPr txBox="1"/>
          <p:nvPr/>
        </p:nvSpPr>
        <p:spPr>
          <a:xfrm>
            <a:off x="13220049" y="7144627"/>
            <a:ext cx="7330532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Google Cloud Platform (GCP) </a:t>
            </a:r>
            <a:r>
              <a:rPr lang="ko-KR" altLang="en-US">
                <a:latin typeface="Kakao Bold"/>
                <a:ea typeface="Kakao Bold"/>
                <a:cs typeface="Kakao Bold"/>
              </a:rPr>
              <a:t>프로젝트 생성</a:t>
            </a:r>
          </a:p>
        </p:txBody>
      </p:sp>
      <p:sp>
        <p:nvSpPr>
          <p:cNvPr id="55" name="03">
            <a:extLst>
              <a:ext uri="{FF2B5EF4-FFF2-40B4-BE49-F238E27FC236}">
                <a16:creationId xmlns:a16="http://schemas.microsoft.com/office/drawing/2014/main" id="{8F4975BD-8F62-49A5-9D53-3B1E8DB9D25D}"/>
              </a:ext>
            </a:extLst>
          </p:cNvPr>
          <p:cNvSpPr txBox="1"/>
          <p:nvPr/>
        </p:nvSpPr>
        <p:spPr>
          <a:xfrm>
            <a:off x="12617793" y="7965122"/>
            <a:ext cx="59631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2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56" name="카테고리 타이틀만 노출할 경우">
            <a:extLst>
              <a:ext uri="{FF2B5EF4-FFF2-40B4-BE49-F238E27FC236}">
                <a16:creationId xmlns:a16="http://schemas.microsoft.com/office/drawing/2014/main" id="{6EFAF2EF-BCB4-4718-800A-37644A4EC861}"/>
              </a:ext>
            </a:extLst>
          </p:cNvPr>
          <p:cNvSpPr txBox="1"/>
          <p:nvPr/>
        </p:nvSpPr>
        <p:spPr>
          <a:xfrm>
            <a:off x="13220049" y="7939140"/>
            <a:ext cx="3459279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OAuth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동의 화면 설정</a:t>
            </a:r>
          </a:p>
        </p:txBody>
      </p:sp>
      <p:sp>
        <p:nvSpPr>
          <p:cNvPr id="57" name="03">
            <a:extLst>
              <a:ext uri="{FF2B5EF4-FFF2-40B4-BE49-F238E27FC236}">
                <a16:creationId xmlns:a16="http://schemas.microsoft.com/office/drawing/2014/main" id="{C2DAF9A4-BA6F-417C-9170-9BCF2A9484AA}"/>
              </a:ext>
            </a:extLst>
          </p:cNvPr>
          <p:cNvSpPr txBox="1"/>
          <p:nvPr/>
        </p:nvSpPr>
        <p:spPr>
          <a:xfrm>
            <a:off x="12617793" y="8791426"/>
            <a:ext cx="599522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3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58" name="카테고리 타이틀만 노출할 경우">
            <a:extLst>
              <a:ext uri="{FF2B5EF4-FFF2-40B4-BE49-F238E27FC236}">
                <a16:creationId xmlns:a16="http://schemas.microsoft.com/office/drawing/2014/main" id="{122D175A-48DF-480F-B8DE-1231F7FCC6FE}"/>
              </a:ext>
            </a:extLst>
          </p:cNvPr>
          <p:cNvSpPr txBox="1"/>
          <p:nvPr/>
        </p:nvSpPr>
        <p:spPr>
          <a:xfrm>
            <a:off x="13220049" y="8765444"/>
            <a:ext cx="4829847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OAuth 2.0 </a:t>
            </a:r>
            <a:r>
              <a:rPr lang="ko-KR" altLang="en-US">
                <a:latin typeface="Kakao Bold"/>
                <a:ea typeface="Kakao Bold"/>
                <a:cs typeface="Kakao Bold"/>
              </a:rPr>
              <a:t>클라이언트 </a:t>
            </a:r>
            <a:r>
              <a:rPr lang="en-US" altLang="ko-KR">
                <a:latin typeface="Kakao Bold"/>
                <a:ea typeface="Kakao Bold"/>
                <a:cs typeface="Kakao Bold"/>
              </a:rPr>
              <a:t>ID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생성</a:t>
            </a:r>
          </a:p>
        </p:txBody>
      </p:sp>
      <p:sp>
        <p:nvSpPr>
          <p:cNvPr id="59" name="03">
            <a:extLst>
              <a:ext uri="{FF2B5EF4-FFF2-40B4-BE49-F238E27FC236}">
                <a16:creationId xmlns:a16="http://schemas.microsoft.com/office/drawing/2014/main" id="{72708C9D-142F-4345-BC08-0B59219645E9}"/>
              </a:ext>
            </a:extLst>
          </p:cNvPr>
          <p:cNvSpPr txBox="1"/>
          <p:nvPr/>
        </p:nvSpPr>
        <p:spPr>
          <a:xfrm>
            <a:off x="12617793" y="9585939"/>
            <a:ext cx="605934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4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60" name="카테고리 타이틀만 노출할 경우">
            <a:extLst>
              <a:ext uri="{FF2B5EF4-FFF2-40B4-BE49-F238E27FC236}">
                <a16:creationId xmlns:a16="http://schemas.microsoft.com/office/drawing/2014/main" id="{EE2E165F-EE61-4861-8067-01A0ACF37FD4}"/>
              </a:ext>
            </a:extLst>
          </p:cNvPr>
          <p:cNvSpPr txBox="1"/>
          <p:nvPr/>
        </p:nvSpPr>
        <p:spPr>
          <a:xfrm>
            <a:off x="13220049" y="9559957"/>
            <a:ext cx="2178480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API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사용 설정</a:t>
            </a:r>
          </a:p>
        </p:txBody>
      </p:sp>
      <p:sp>
        <p:nvSpPr>
          <p:cNvPr id="61" name="03">
            <a:extLst>
              <a:ext uri="{FF2B5EF4-FFF2-40B4-BE49-F238E27FC236}">
                <a16:creationId xmlns:a16="http://schemas.microsoft.com/office/drawing/2014/main" id="{4E6BBDFE-A912-4811-99A4-26B9A341038E}"/>
              </a:ext>
            </a:extLst>
          </p:cNvPr>
          <p:cNvSpPr txBox="1"/>
          <p:nvPr/>
        </p:nvSpPr>
        <p:spPr>
          <a:xfrm>
            <a:off x="12621471" y="10400392"/>
            <a:ext cx="594714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5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62" name="카테고리 타이틀만 노출할 경우">
            <a:extLst>
              <a:ext uri="{FF2B5EF4-FFF2-40B4-BE49-F238E27FC236}">
                <a16:creationId xmlns:a16="http://schemas.microsoft.com/office/drawing/2014/main" id="{668E9789-89E7-4344-AA5E-546E1ABEEE56}"/>
              </a:ext>
            </a:extLst>
          </p:cNvPr>
          <p:cNvSpPr txBox="1"/>
          <p:nvPr/>
        </p:nvSpPr>
        <p:spPr>
          <a:xfrm>
            <a:off x="13223727" y="10374410"/>
            <a:ext cx="2875786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ko-KR" altLang="en-US">
                <a:latin typeface="Kakao Bold"/>
                <a:ea typeface="Kakao Bold"/>
                <a:cs typeface="Kakao Bold"/>
              </a:rPr>
              <a:t>토큰 생성 프로세스</a:t>
            </a:r>
          </a:p>
        </p:txBody>
      </p:sp>
      <p:sp>
        <p:nvSpPr>
          <p:cNvPr id="63" name="카테고리 타이틀만 노출할 경우">
            <a:extLst>
              <a:ext uri="{FF2B5EF4-FFF2-40B4-BE49-F238E27FC236}">
                <a16:creationId xmlns:a16="http://schemas.microsoft.com/office/drawing/2014/main" id="{8BCA0051-070A-4A65-A479-9D506F873F8C}"/>
              </a:ext>
            </a:extLst>
          </p:cNvPr>
          <p:cNvSpPr txBox="1"/>
          <p:nvPr/>
        </p:nvSpPr>
        <p:spPr>
          <a:xfrm>
            <a:off x="6196188" y="11508426"/>
            <a:ext cx="3415999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UI </a:t>
            </a:r>
            <a:r>
              <a:rPr lang="ko-KR" altLang="en-US">
                <a:latin typeface="Kakao Bold"/>
                <a:ea typeface="Kakao Bold"/>
                <a:cs typeface="Kakao Bold"/>
              </a:rPr>
              <a:t>및 로그 파일 가이드</a:t>
            </a:r>
          </a:p>
        </p:txBody>
      </p:sp>
      <p:sp>
        <p:nvSpPr>
          <p:cNvPr id="64" name="03">
            <a:extLst>
              <a:ext uri="{FF2B5EF4-FFF2-40B4-BE49-F238E27FC236}">
                <a16:creationId xmlns:a16="http://schemas.microsoft.com/office/drawing/2014/main" id="{0D6FDA02-4337-4806-BD04-3A5EAEC417CC}"/>
              </a:ext>
            </a:extLst>
          </p:cNvPr>
          <p:cNvSpPr txBox="1"/>
          <p:nvPr/>
        </p:nvSpPr>
        <p:spPr>
          <a:xfrm>
            <a:off x="12621471" y="11508125"/>
            <a:ext cx="55303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1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65" name="카테고리 타이틀만 노출할 경우">
            <a:extLst>
              <a:ext uri="{FF2B5EF4-FFF2-40B4-BE49-F238E27FC236}">
                <a16:creationId xmlns:a16="http://schemas.microsoft.com/office/drawing/2014/main" id="{688DBEB5-E3E1-470D-8A06-111CA8431BA9}"/>
              </a:ext>
            </a:extLst>
          </p:cNvPr>
          <p:cNvSpPr txBox="1"/>
          <p:nvPr/>
        </p:nvSpPr>
        <p:spPr>
          <a:xfrm>
            <a:off x="13223727" y="11482143"/>
            <a:ext cx="530593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en-US" altLang="ko-KR">
                <a:latin typeface="Kakao Bold"/>
                <a:ea typeface="Kakao Bold"/>
                <a:cs typeface="Kakao Bold"/>
              </a:rPr>
              <a:t>UI</a:t>
            </a:r>
            <a:endParaRPr lang="ko-KR" altLang="en-US">
              <a:latin typeface="Kakao Bold"/>
              <a:ea typeface="Kakao Bold"/>
              <a:cs typeface="Kakao Bold"/>
            </a:endParaRPr>
          </a:p>
        </p:txBody>
      </p:sp>
      <p:sp>
        <p:nvSpPr>
          <p:cNvPr id="66" name="03">
            <a:extLst>
              <a:ext uri="{FF2B5EF4-FFF2-40B4-BE49-F238E27FC236}">
                <a16:creationId xmlns:a16="http://schemas.microsoft.com/office/drawing/2014/main" id="{1D123866-8982-4E1A-807C-6BC372D0D477}"/>
              </a:ext>
            </a:extLst>
          </p:cNvPr>
          <p:cNvSpPr txBox="1"/>
          <p:nvPr/>
        </p:nvSpPr>
        <p:spPr>
          <a:xfrm>
            <a:off x="12621471" y="12302638"/>
            <a:ext cx="596316" cy="536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lnSpc>
                <a:spcPct val="80000"/>
              </a:lnSpc>
              <a:defRPr sz="3000" b="0">
                <a:solidFill>
                  <a:srgbClr val="1E1E1E"/>
                </a:solidFill>
                <a:latin typeface="카카오OTF Light"/>
                <a:ea typeface="카카오OTF Light"/>
                <a:cs typeface="카카오OTF Light"/>
                <a:sym typeface="카카오OTF Light"/>
              </a:defRPr>
            </a:lvl1pPr>
          </a:lstStyle>
          <a:p>
            <a:r>
              <a:rPr>
                <a:latin typeface="Kakao Light"/>
                <a:ea typeface="Kakao Light"/>
                <a:cs typeface="Kakao Light"/>
              </a:rPr>
              <a:t>0</a:t>
            </a:r>
            <a:r>
              <a:rPr lang="en-US">
                <a:latin typeface="Kakao Light"/>
                <a:ea typeface="Kakao Light"/>
                <a:cs typeface="Kakao Light"/>
              </a:rPr>
              <a:t>2</a:t>
            </a:r>
            <a:endParaRPr>
              <a:latin typeface="Kakao Light"/>
              <a:ea typeface="Kakao Light"/>
              <a:cs typeface="Kakao Light"/>
            </a:endParaRPr>
          </a:p>
        </p:txBody>
      </p:sp>
      <p:sp>
        <p:nvSpPr>
          <p:cNvPr id="67" name="카테고리 타이틀만 노출할 경우">
            <a:extLst>
              <a:ext uri="{FF2B5EF4-FFF2-40B4-BE49-F238E27FC236}">
                <a16:creationId xmlns:a16="http://schemas.microsoft.com/office/drawing/2014/main" id="{6B80CDD4-41C9-44D6-A26B-D5F1DBCB9DE4}"/>
              </a:ext>
            </a:extLst>
          </p:cNvPr>
          <p:cNvSpPr txBox="1"/>
          <p:nvPr/>
        </p:nvSpPr>
        <p:spPr>
          <a:xfrm>
            <a:off x="13223727" y="12276656"/>
            <a:ext cx="2231379" cy="60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>
            <a:lvl1pPr algn="l">
              <a:defRPr sz="3000" b="0">
                <a:solidFill>
                  <a:srgbClr val="1E1E1E"/>
                </a:solidFill>
                <a:latin typeface="카카오OTF Bold"/>
                <a:ea typeface="카카오OTF Bold"/>
                <a:cs typeface="카카오OTF Bold"/>
                <a:sym typeface="카카오OTF Bold"/>
              </a:defRPr>
            </a:lvl1pPr>
          </a:lstStyle>
          <a:p>
            <a:r>
              <a:rPr lang="ko-KR" altLang="en-US">
                <a:latin typeface="Kakao Bold"/>
                <a:ea typeface="Kakao Bold"/>
                <a:cs typeface="Kakao Bold"/>
              </a:rPr>
              <a:t>상세 로그 파일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서브타이틀 영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>
                <a:latin typeface="Kakao Bold"/>
                <a:ea typeface="Kakao Bold"/>
                <a:cs typeface="Kakao Bold"/>
              </a:rPr>
              <a:t>실행하기 전 필수 확인사항</a:t>
            </a:r>
          </a:p>
        </p:txBody>
      </p:sp>
      <p:sp>
        <p:nvSpPr>
          <p:cNvPr id="2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426B8-6438-40C0-8D56-3CC4082DE789}"/>
              </a:ext>
            </a:extLst>
          </p:cNvPr>
          <p:cNvSpPr txBox="1"/>
          <p:nvPr/>
        </p:nvSpPr>
        <p:spPr>
          <a:xfrm>
            <a:off x="956203" y="3367161"/>
            <a:ext cx="22589067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구글 </a:t>
            </a: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OAuth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인증 진행 </a:t>
            </a: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: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  <a:hlinkClick r:id="rId2" action="ppaction://hlinksldjump"/>
              </a:rPr>
              <a:t>바로가기</a:t>
            </a: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marL="514350" indent="-514350" algn="l">
              <a:buAutoNum type="arabicPeriod"/>
            </a:pP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marL="514350" indent="-514350" algn="l">
              <a:buAutoNum type="arabicPeriod"/>
            </a:pP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Auth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폴더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(1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번 완료 후 확인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구글 인증 관련 파일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client_secret.json, token.json(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 후 자동 생성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3. Config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폴더</a:t>
            </a: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구글 시트 정보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google_sheet_config.json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sheet_id: 1u5bGpiqrqK4luNstBUvKVYtCyWLHz_JOo3IMidkZ3dE</a:t>
            </a: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4. (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참고</a:t>
            </a: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)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구글 시트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→ 전월 시트 서식을 참고하여 신규 시트 생성하므로 아래와 같은 서식 유지하며 운영 필요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A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열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report_date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B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열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~ G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열 기존 서식과 동일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593077-F15C-4B47-8042-95B4236F6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03" y="8809456"/>
            <a:ext cx="14658085" cy="84993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서브타이틀 영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>
                <a:latin typeface="Kakao Bold"/>
                <a:ea typeface="Kakao Bold"/>
                <a:cs typeface="Kakao Bold"/>
              </a:rPr>
              <a:t>구글 </a:t>
            </a:r>
            <a:r>
              <a:rPr lang="en-US" altLang="ko-KR">
                <a:latin typeface="Kakao Bold"/>
                <a:ea typeface="Kakao Bold"/>
                <a:cs typeface="Kakao Bold"/>
              </a:rPr>
              <a:t>OAuth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인증 정보 생성 가이드</a:t>
            </a:r>
          </a:p>
        </p:txBody>
      </p:sp>
      <p:sp>
        <p:nvSpPr>
          <p:cNvPr id="2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426B8-6438-40C0-8D56-3CC4082DE789}"/>
              </a:ext>
            </a:extLst>
          </p:cNvPr>
          <p:cNvSpPr txBox="1"/>
          <p:nvPr/>
        </p:nvSpPr>
        <p:spPr>
          <a:xfrm>
            <a:off x="956203" y="3367161"/>
            <a:ext cx="22589067" cy="84638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Google Cloud Platform (GCP)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프로젝트 생성</a:t>
            </a: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a. Google Cloud Console(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  <a:hlinkClick r:id="rId2"/>
              </a:rPr>
              <a:t>https://console.cloud.google.com/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에 접속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b.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상단의 프로젝트 선택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(Ctrl+O)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을 클릭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c.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새 프로젝트 버튼을 클릭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기존 프로젝트가 있다면 선택하고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OAuth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동의 화면 설정 진행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d.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프로젝트 이름을 입력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원하는 이름 설정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,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조직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(knworks.co.kr)) 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만들기 버튼을 클릭하여 프로젝트를 생성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2. OAuth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동의 화면 설정</a:t>
            </a: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a. ‘.(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단축키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)’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선택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왼쪽 탭 열림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API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및 서비스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사용자 인증 정보로 이동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b. OAuth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동의 화면 탭을 선택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c.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사용자 유형 내부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조직 내 사용자 대상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선택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애플리케이션 이름 입력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원하는 이름 설정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 &gt;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저장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3. OAuth 2.0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클라이언트 </a:t>
            </a: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ID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생성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a. API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및 서비스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사용자 인증 정보에서 인증 정보 만들기 클릭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b. OAuth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클라이언트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ID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를 선택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c.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애플리케이션 유형 선택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데스크톱 앱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생성 버튼을 클릭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d.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클라이언트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ID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및 클라이언트 보안 비밀번호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(Client Secret)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다운로드 클릭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JSON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파일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</a:t>
            </a:r>
            <a:r>
              <a:rPr lang="en-US" altLang="ko-KR">
                <a:latin typeface="카카오 Regular" panose="020B0600000101010101" pitchFamily="50" charset="-127"/>
                <a:ea typeface="카카오 Regular" panose="020B0600000101010101" pitchFamily="50" charset="-127"/>
              </a:rPr>
              <a:t>client_secret.json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 저장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f.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저장 위치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실행파일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(exe or app)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위치 기준 하위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“</a:t>
            </a:r>
            <a:r>
              <a:rPr lang="en-US" altLang="ko-KR">
                <a:latin typeface="카카오 Regular" panose="020B0600000101010101" pitchFamily="50" charset="-127"/>
                <a:ea typeface="카카오 Regular" panose="020B0600000101010101" pitchFamily="50" charset="-127"/>
              </a:rPr>
              <a:t>Auth </a:t>
            </a:r>
            <a:r>
              <a:rPr lang="ko-KR" altLang="en-US">
                <a:latin typeface="카카오 Regular" panose="020B0600000101010101" pitchFamily="50" charset="-127"/>
                <a:ea typeface="카카오 Regular" panose="020B0600000101010101" pitchFamily="50" charset="-127"/>
              </a:rPr>
              <a:t>폴더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”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에 추가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066044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서브타이틀 영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>
                <a:latin typeface="Kakao Bold"/>
                <a:ea typeface="Kakao Bold"/>
                <a:cs typeface="Kakao Bold"/>
              </a:rPr>
              <a:t>구글 </a:t>
            </a:r>
            <a:r>
              <a:rPr lang="en-US" altLang="ko-KR">
                <a:latin typeface="Kakao Bold"/>
                <a:ea typeface="Kakao Bold"/>
                <a:cs typeface="Kakao Bold"/>
              </a:rPr>
              <a:t>OAuth </a:t>
            </a:r>
            <a:r>
              <a:rPr lang="ko-KR" altLang="en-US">
                <a:latin typeface="Kakao Bold"/>
                <a:ea typeface="Kakao Bold"/>
                <a:cs typeface="Kakao Bold"/>
              </a:rPr>
              <a:t>인증 정보 생성 가이드</a:t>
            </a:r>
          </a:p>
        </p:txBody>
      </p:sp>
      <p:sp>
        <p:nvSpPr>
          <p:cNvPr id="2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426B8-6438-40C0-8D56-3CC4082DE789}"/>
              </a:ext>
            </a:extLst>
          </p:cNvPr>
          <p:cNvSpPr txBox="1"/>
          <p:nvPr/>
        </p:nvSpPr>
        <p:spPr>
          <a:xfrm>
            <a:off x="956203" y="3367161"/>
            <a:ext cx="22589067" cy="99411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4. API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사용 설정</a:t>
            </a:r>
          </a:p>
          <a:p>
            <a:pPr algn="l"/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a. API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및 서비스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라이브러리로 이동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b. API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를 검색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(Google Sheets API, Google Drive API)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사용 설정 클릭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c. Google Sheets API :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  <a:hlinkClick r:id="rId2"/>
              </a:rPr>
              <a:t>바로가기</a:t>
            </a:r>
            <a:endParaRPr lang="ko-KR" altLang="en-US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d. Google Drive API :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  <a:hlinkClick r:id="rId3"/>
              </a:rPr>
              <a:t>바로가기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>
                <a:latin typeface="카카오 Regular" panose="020B0600000101010101" pitchFamily="50" charset="-127"/>
                <a:ea typeface="카카오 Regular" panose="020B0600000101010101" pitchFamily="50" charset="-127"/>
              </a:rPr>
              <a:t>5. </a:t>
            </a:r>
            <a:r>
              <a:rPr lang="ko-KR" altLang="en-US">
                <a:latin typeface="카카오 Regular" panose="020B0600000101010101" pitchFamily="50" charset="-127"/>
                <a:ea typeface="카카오 Regular" panose="020B0600000101010101" pitchFamily="50" charset="-127"/>
              </a:rPr>
              <a:t>토큰 생성 프로세스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a.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최초 실행파일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(exe or app)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i. Google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로그인 창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로그인 후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token.json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파일 자동 생성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ii.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이후부터는 로그인 필요 없음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토큰 자동 사용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b. exe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재실행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i. token.json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이 존재하면 자동으로 인증 진행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ii.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로그인 창 없이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Google Sheets API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사용 가능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iii. token.json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이 삭제되었거나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,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기타 사유로 인해 로그인 창 열릴 수 있습니다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.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c. token.json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은 실행한 디렉토리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(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폴더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)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에 자동 생성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i. client_secret.json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과 같은 폴더에 저장됨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 ＂Auth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폴더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＂</a:t>
            </a: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d. token.json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파일 직접 공유 금지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API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접근 권한 넘어가는 보안 이슈 발생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e.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운영자가 변경될 경우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구글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OAuth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인증 과정 진행 후 업무 진행 가능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	i. 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기존 </a:t>
            </a:r>
            <a:r>
              <a:rPr lang="en-US" altLang="ko-KR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token.json</a:t>
            </a:r>
            <a:r>
              <a:rPr lang="ko-KR" altLang="en-US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은 삭제</a:t>
            </a:r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endParaRPr lang="en-US" altLang="ko-KR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6546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서브타이틀 영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>
                <a:latin typeface="Kakao Bold"/>
                <a:ea typeface="Kakao Bold"/>
                <a:cs typeface="Kakao Bold"/>
              </a:rPr>
              <a:t>UI </a:t>
            </a:r>
            <a:r>
              <a:rPr lang="ko-KR" altLang="en-US">
                <a:latin typeface="Kakao Bold"/>
                <a:ea typeface="Kakao Bold"/>
                <a:cs typeface="Kakao Bold"/>
              </a:rPr>
              <a:t>및 로그 파일 가이드</a:t>
            </a:r>
          </a:p>
        </p:txBody>
      </p:sp>
      <p:sp>
        <p:nvSpPr>
          <p:cNvPr id="2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426B8-6438-40C0-8D56-3CC4082DE789}"/>
              </a:ext>
            </a:extLst>
          </p:cNvPr>
          <p:cNvSpPr txBox="1"/>
          <p:nvPr/>
        </p:nvSpPr>
        <p:spPr>
          <a:xfrm>
            <a:off x="956203" y="3367161"/>
            <a:ext cx="22589067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UI</a:t>
            </a:r>
          </a:p>
          <a:p>
            <a:pPr algn="l"/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30FEEB-0059-41AE-AD48-AD6C740BA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04" y="3905770"/>
            <a:ext cx="8837112" cy="78536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5D71FD-53DF-4D3B-8730-171F0EEC9B04}"/>
              </a:ext>
            </a:extLst>
          </p:cNvPr>
          <p:cNvSpPr txBox="1"/>
          <p:nvPr/>
        </p:nvSpPr>
        <p:spPr>
          <a:xfrm>
            <a:off x="9967200" y="3905770"/>
            <a:ext cx="13292189" cy="48320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취합 시작일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~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취합 종료일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ㄴ 취합 종료일은 실행일 기준 전날까지만 선택 가능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취합 기간은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1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년 미만만 가능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실행 중에는 실행 버튼을 다시 누를 수 없음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초기화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: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시작일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종료일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 상태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결과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 초기화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 상태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 결과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작업 완료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실패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/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실패 오류 메시지 확인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간단한 로그 확인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 폴더 열기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상세 로그 저장 폴더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다운로드 폴더 열기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CSV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파일 다운로드 폴더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707835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서브타이틀 영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>
                <a:latin typeface="Kakao Bold"/>
                <a:ea typeface="Kakao Bold"/>
                <a:cs typeface="Kakao Bold"/>
              </a:rPr>
              <a:t>UI </a:t>
            </a:r>
            <a:r>
              <a:rPr lang="ko-KR" altLang="en-US">
                <a:latin typeface="Kakao Bold"/>
                <a:ea typeface="Kakao Bold"/>
                <a:cs typeface="Kakao Bold"/>
              </a:rPr>
              <a:t>및 로그 파일 가이드</a:t>
            </a:r>
          </a:p>
        </p:txBody>
      </p:sp>
      <p:sp>
        <p:nvSpPr>
          <p:cNvPr id="20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426B8-6438-40C0-8D56-3CC4082DE789}"/>
              </a:ext>
            </a:extLst>
          </p:cNvPr>
          <p:cNvSpPr txBox="1"/>
          <p:nvPr/>
        </p:nvSpPr>
        <p:spPr>
          <a:xfrm>
            <a:off x="956203" y="3367161"/>
            <a:ext cx="22589067" cy="30777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altLang="ko-KR" b="0">
                <a:latin typeface="카카오 Bold" panose="020B0600000101010101" pitchFamily="50" charset="-127"/>
                <a:ea typeface="카카오 Bold" panose="020B0600000101010101" pitchFamily="50" charset="-127"/>
              </a:rPr>
              <a:t>2. </a:t>
            </a:r>
            <a:r>
              <a:rPr lang="ko-KR" altLang="en-US" b="0">
                <a:latin typeface="카카오 Bold" panose="020B0600000101010101" pitchFamily="50" charset="-127"/>
                <a:ea typeface="카카오 Bold" panose="020B0600000101010101" pitchFamily="50" charset="-127"/>
              </a:rPr>
              <a:t>상세 로그 파일</a:t>
            </a:r>
            <a:endParaRPr lang="en-US" altLang="ko-KR" b="0">
              <a:latin typeface="카카오 Bold" panose="020B0600000101010101" pitchFamily="50" charset="-127"/>
              <a:ea typeface="카카오 Bold" panose="020B0600000101010101" pitchFamily="50" charset="-127"/>
            </a:endParaRPr>
          </a:p>
          <a:p>
            <a:pPr algn="l"/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위치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: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실행파일 기준 하위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“Log”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폴더 자동 생성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&gt;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log_YYYYMMDD.log</a:t>
            </a:r>
          </a:p>
          <a:p>
            <a:pPr algn="l"/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- YYYY-MM-DD HH:MM:SS |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로그레벨 </a:t>
            </a:r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| </a:t>
            </a: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메시지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</a:t>
            </a:r>
            <a:r>
              <a:rPr lang="ko-KR" altLang="en-US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</a:t>
            </a:r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YYYY-MM-DD HH:MM:SS : </a:t>
            </a:r>
            <a:r>
              <a:rPr lang="ko-KR" altLang="en-US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로그 기록 시작</a:t>
            </a:r>
            <a:endParaRPr lang="en-US" altLang="ko-KR" sz="25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algn="l"/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</a:t>
            </a:r>
            <a:r>
              <a:rPr lang="ko-KR" altLang="en-US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로그레벨 </a:t>
            </a:r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INFO / WARNING / ERROR / FATAL</a:t>
            </a:r>
          </a:p>
          <a:p>
            <a:pPr algn="l"/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  </a:t>
            </a:r>
            <a:r>
              <a:rPr lang="ko-KR" altLang="en-US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ㄴ 메시지 </a:t>
            </a:r>
            <a:r>
              <a:rPr lang="en-US" altLang="ko-KR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: </a:t>
            </a:r>
            <a:r>
              <a:rPr lang="ko-KR" altLang="en-US" sz="25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실제 처리 결과 또는 오류 내용</a:t>
            </a:r>
            <a:endParaRPr lang="en-US" altLang="ko-KR" sz="25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  <a:p>
            <a:pPr marL="457200" indent="-457200" algn="l">
              <a:buFontTx/>
              <a:buChar char="-"/>
            </a:pPr>
            <a:r>
              <a:rPr lang="ko-KR" altLang="en-US" sz="2800" b="0">
                <a:latin typeface="카카오 Regular" panose="020B0600000101010101" pitchFamily="50" charset="-127"/>
                <a:ea typeface="카카오 Regular" panose="020B0600000101010101" pitchFamily="50" charset="-127"/>
              </a:rPr>
              <a:t>오류 로그</a:t>
            </a:r>
            <a:endParaRPr lang="en-US" altLang="ko-KR" sz="2800" b="0">
              <a:latin typeface="카카오 Regular" panose="020B0600000101010101" pitchFamily="50" charset="-127"/>
              <a:ea typeface="카카오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658C0D-A817-419D-A3B8-8D8B1919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23" y="6444927"/>
            <a:ext cx="10435517" cy="668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8814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감사합니다"/>
          <p:cNvSpPr txBox="1">
            <a:spLocks noGrp="1"/>
          </p:cNvSpPr>
          <p:nvPr>
            <p:ph type="title"/>
          </p:nvPr>
        </p:nvSpPr>
        <p:spPr>
          <a:xfrm>
            <a:off x="1078573" y="10339156"/>
            <a:ext cx="22226854" cy="1694908"/>
          </a:xfrm>
          <a:prstGeom prst="rect">
            <a:avLst/>
          </a:prstGeom>
        </p:spPr>
        <p:txBody>
          <a:bodyPr/>
          <a:lstStyle/>
          <a:p>
            <a:pPr algn="r"/>
            <a:r>
              <a:rPr dirty="0"/>
              <a:t>감사합니다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825</Words>
  <Application>Microsoft Office PowerPoint</Application>
  <PresentationFormat>사용자 지정</PresentationFormat>
  <Paragraphs>109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Apple SD Gothic Neo</vt:lpstr>
      <vt:lpstr>Helvetica Neue</vt:lpstr>
      <vt:lpstr>Kakao Bold</vt:lpstr>
      <vt:lpstr>Kakao Light</vt:lpstr>
      <vt:lpstr>Kakao Regular</vt:lpstr>
      <vt:lpstr>카카오 Bold</vt:lpstr>
      <vt:lpstr>카카오 Regular</vt:lpstr>
      <vt:lpstr>카카오OTF Bold</vt:lpstr>
      <vt:lpstr>카카오OTF Light</vt:lpstr>
      <vt:lpstr>Arial</vt:lpstr>
      <vt:lpstr>White</vt:lpstr>
      <vt:lpstr>[CAU167] 그레이 키워드 적중률 분석</vt:lpstr>
      <vt:lpstr>PowerPoint 프레젠테이션</vt:lpstr>
      <vt:lpstr>실행하기 전 필수 확인사항</vt:lpstr>
      <vt:lpstr>구글 OAuth 인증 정보 생성 가이드</vt:lpstr>
      <vt:lpstr>구글 OAuth 인증 정보 생성 가이드</vt:lpstr>
      <vt:lpstr>UI 및 로그 파일 가이드</vt:lpstr>
      <vt:lpstr>UI 및 로그 파일 가이드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디폴트_문서의 제목을 넣어주세요</dc:title>
  <cp:lastModifiedBy>mia.p@knworks.co.kr</cp:lastModifiedBy>
  <cp:revision>39</cp:revision>
  <dcterms:modified xsi:type="dcterms:W3CDTF">2026-03-12T05:36:06Z</dcterms:modified>
</cp:coreProperties>
</file>